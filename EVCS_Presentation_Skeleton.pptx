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l Homayouni" userId="8607d062d2dc3d62" providerId="LiveId" clId="{2EDDFB26-3D6A-427F-BA22-A067C164E2C0}"/>
    <pc:docChg chg="modSld">
      <pc:chgData name="Asal Homayouni" userId="8607d062d2dc3d62" providerId="LiveId" clId="{2EDDFB26-3D6A-427F-BA22-A067C164E2C0}" dt="2026-04-30T16:05:58.293" v="22" actId="20577"/>
      <pc:docMkLst>
        <pc:docMk/>
      </pc:docMkLst>
      <pc:sldChg chg="modSp mod">
        <pc:chgData name="Asal Homayouni" userId="8607d062d2dc3d62" providerId="LiveId" clId="{2EDDFB26-3D6A-427F-BA22-A067C164E2C0}" dt="2026-04-30T16:05:58.293" v="22" actId="20577"/>
        <pc:sldMkLst>
          <pc:docMk/>
          <pc:sldMk cId="0" sldId="256"/>
        </pc:sldMkLst>
        <pc:spChg chg="mod">
          <ac:chgData name="Asal Homayouni" userId="8607d062d2dc3d62" providerId="LiveId" clId="{2EDDFB26-3D6A-427F-BA22-A067C164E2C0}" dt="2026-04-30T16:05:58.293" v="22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Iterations per 30s budget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Iterations in 30s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67-4927-B33E-61903B92F9F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467-4927-B33E-61903B92F9F1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67-4927-B33E-61903B92F9F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467-4927-B33E-61903B92F9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Vicenza
N=125</c:v>
                </c:pt>
                <c:pt idx="1">
                  <c:v>Verona
N=250</c:v>
                </c:pt>
                <c:pt idx="2">
                  <c:v>Monza
N=400</c:v>
                </c:pt>
                <c:pt idx="3">
                  <c:v>Palermo
N=1025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75</c:v>
                </c:pt>
                <c:pt idx="2">
                  <c:v>50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67-4927-B33E-61903B92F9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82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~1 min. Introduce problem: optimizing EV charger placement over multiple years using a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matters. ~2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problem definition. ~3.5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full EV session at this conference — the gap is real. ~5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ALNS framework. Key insight: UE is fast enough to call at every step. ~7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Instance generation. Monza is primary benchmark. ~8.5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journey. We didn't start with UE. Proxy was too simple, GRB too slow, UE is the sweet spot. ~10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UE details. Key selling point: congestion awareness + speed. ~11.5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convergence curves. ALNS clearly improves over greedy on both instances. Gap to LP bound expected — that bound is loose for large instances. ~13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solution for Palermo 1025. Visually sensible — chargers where demand is densest. ~14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Scalability. Linear scaling is a key property. ~15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work — present as ongoing. Being transparent that this is not fully integrated yet. ~17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diagnostic plot explaining why proxy-UE correlation peaks at r=0.74. ~18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next steps. Gate and adaptive LS are near-term. ~19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key takeaways. 5 min for questions. Be ready: why UE over GRB, what the gate achieves, stochastic demand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Multi-Period Electric Vehicle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Location &amp; Sizing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ADCFC"/>
                </a:solidFill>
              </a:rPr>
              <a:t>A Heuristic Approach with Adaptive Large Neighbourhood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3200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</a:rPr>
              <a:t>[</a:t>
            </a:r>
            <a:r>
              <a:rPr lang="en-US" sz="1200">
                <a:solidFill>
                  <a:srgbClr val="8899AA"/>
                </a:solidFill>
              </a:rPr>
              <a:t>Asal Homayouni]  </a:t>
            </a:r>
            <a:r>
              <a:rPr lang="en-US" sz="1200" dirty="0">
                <a:solidFill>
                  <a:srgbClr val="8899AA"/>
                </a:solidFill>
              </a:rPr>
              <a:t>|  Supervisor: [Supervisor Name]  |  May 12,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</a:rPr>
              <a:t>TV11  ·  3rd Speaker  ·  20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Depends on Where You Put the Chargers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81912"/>
            <a:ext cx="2468880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↑35%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246888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EV sales growth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last 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81912"/>
            <a:ext cx="2468880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#1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304288"/>
            <a:ext cx="246888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Barrier to adoption: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range anxiety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81912"/>
            <a:ext cx="2468880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T=6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2304288"/>
            <a:ext cx="246888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Multi-period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installation horizon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Poor placement → fewer users → slower decarbonisation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Location decisions are irreversible — getting them right matters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 is spread across multiple periods (years)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User behaviour and congestion must be modelled realistically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Multi-Period EVCS Location &amp; Sizing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3840480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Which candidate sites to open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How many chargers per site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When to install (which period)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 limit per period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44752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 &amp; Constraints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38528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Maximise demand served by open stations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 constraint per time period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Max chargers per site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Cumulative installation (no removals)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LITERATURE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Work on EV Location — But a Clear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What exists: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Many exact methods (MIP, Benders)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Single-period formulations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Simple coverage objectives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Small instances (N &lt; 200)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What is missing: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Specialized heuristics for large instances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Multi-period with realistic user behaviour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Congestion-aware demand modelling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Scalability to N = 1000+ nodes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contribution: a tailored ALNS heuristic for multi-period EVCS with user equilibrium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Large Neighbourhood Search (ALNS)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Greedy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Destroy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(remove)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Reconstruct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(add)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 (UE)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542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</a:rPr>
              <a:t>↺  Iterate until time budget exhausted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27248"/>
            <a:ext cx="73152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Destroy Operators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58444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Site swap · Local remove · Area destroy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Adaptive weight update (roulette wheel)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3127248"/>
            <a:ext cx="73152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Reconstruction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11296" y="358444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Greedy binary assignment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Proxy score ranks candidates fast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54496" y="3127248"/>
            <a:ext cx="73152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Evaluation (UE)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55664" y="358444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User equilibrium + Erlang-C queuing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~0.024s per solution — fast enough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Italian Cities — Synthetically Generated Instances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303520" cy="26517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Instance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(nodes)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Vicenza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Verona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Small-Med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Monza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Primary ★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Palermo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Large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06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★  Main benchmark — medium size, non-trivial, exact methods applicable for comparison</a:t>
            </a:r>
            <a:endParaRPr lang="en-US" sz="1000" dirty="0"/>
          </a:p>
        </p:txBody>
      </p:sp>
      <p:sp>
        <p:nvSpPr>
          <p:cNvPr id="5" name="Text 4"/>
          <p:cNvSpPr/>
          <p:nvPr/>
        </p:nvSpPr>
        <p:spPr>
          <a:xfrm>
            <a:off x="5943600" y="146304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Demand nodes: population-weighted grid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Candidate sites: existing fuel stations + parking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D = 2 km service radius (walkable distance)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Budget: 8 stations × up to 6 chargers each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T = 6 periods, cumulative installation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 Solutions: A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502920" cy="50292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Binary Proxy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9222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Count demand within range of open stations. Instant but ignores congestion.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536192"/>
            <a:ext cx="1371600" cy="41148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5361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~0 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" y="2048256"/>
            <a:ext cx="0" cy="493776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63347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Gurobi (GRB)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8950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LP flow model. Accurate but slow — requires licence, 2–5s per call.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633472"/>
            <a:ext cx="13716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6334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~2–5 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" y="3145536"/>
            <a:ext cx="0" cy="493776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3730752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6393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User Equilibrium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Logit routing + Erlang-C queuing. Fast AND realistic. Current approach.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3730752"/>
            <a:ext cx="137160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730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~0.024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UE: users choose stations to minimise travel cost + expected waiting time (Erlang-C queue)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Equilibrium: How Drivers Choose Chargers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Each driver minimises: travel cost + expected wait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Logit model: probability of choosing station j ∝ e^(−cost)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Erlang-C: realistic queue model for each station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No-option: drivers bail if nearest station &gt; 2 km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Equilibrium: no driver improves by switching stations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Key result: concentrating chargers is penalised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(congestion raises waiting cost)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444752"/>
            <a:ext cx="3474720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Tuned Parameters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0680" y="1938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noopt 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2 km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23865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α_wait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23865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10.0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penalty_dist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5.0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3282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μ (service rate)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32826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4.0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37307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cap / server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3730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A90D9"/>
                </a:solidFill>
              </a:rPr>
              <a:t>UE runs at ~0.024 s/solution — fast enough to replace proxy as LS guide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ALNS Converges and Beats the Greedy Baseline</a:t>
            </a:r>
            <a:endParaRPr lang="en-US" sz="2800" dirty="0"/>
          </a:p>
        </p:txBody>
      </p:sp>
      <p:pic>
        <p:nvPicPr>
          <p:cNvPr id="5" name="Image 0" descr="/mnt/user-data/uploads/alns_trajec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53312"/>
            <a:ext cx="429768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92040" y="1444752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444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40680" y="1371600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Monza N=400: 7 improvements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in 20s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2340864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23408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40680" y="226771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Palermo N=1025: 11 improvements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in 31s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92040" y="3236976"/>
            <a:ext cx="438912" cy="43891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3236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↑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40680" y="3163824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UE score: 167 → 172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(+2.5% vs greedy)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92040" y="413308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~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40680" y="4059936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LP upper bound 192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(gap known, expected)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Look Physically Reasonable</a:t>
            </a:r>
            <a:endParaRPr lang="en-US" sz="2800" dirty="0"/>
          </a:p>
        </p:txBody>
      </p:sp>
      <p:pic>
        <p:nvPicPr>
          <p:cNvPr id="5" name="Image 0" descr="/mnt/user-data/uploads/best_sol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25880"/>
            <a:ext cx="507492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3560" y="1417320"/>
            <a:ext cx="3246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Stations near dense demand clusters ✓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High-charger stations (red) at centre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Low-charger stations (blue) extend reach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Coverage circles (r=2km) overlap demand ✓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16.9% served — budget-constrained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(48 chargers / 1025 demand nodes)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Solutions vary across iterations — not stuck ✓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Scales to 1000+ Nodes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46304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UE eval: ~0.024s on N=250 → ~0.1s on N=400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Roughly linear scaling — predictable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30 iterations on Palermo N=1025 — still meaningful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No Gurobi licence needed for full runs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Greedy init always feasible — no warm-start needed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ALNS: A Learned Evaluation Gate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Candidate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865376"/>
            <a:ext cx="2286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Binary proxy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gate r=0.74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865376"/>
            <a:ext cx="2286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1–2 step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865376"/>
            <a:ext cx="2286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UE 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4C3C"/>
                </a:solidFill>
              </a:rPr>
              <a:t>↓ skip ~30% of candidates before expensive steps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52928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Observation: LS stops at step 1–2 for 79% of trajectories — expensive for little gain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Binary proxy correlates with UE at r=0.74 — useful coarse filter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Gate filters bottom ~30% before LS starts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Structural limit: proxy (coverage) and UE (congestion) measure different things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Next step: use UE directly as the LS step guide — 0.1s/step, feasible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74C3C"/>
                </a:solidFill>
              </a:rPr>
              <a:t>⚠  Preliminary — full pipeline integration in progress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Proxy–UE Correlation Analysis</a:t>
            </a:r>
            <a:endParaRPr lang="en-US" sz="2800" dirty="0"/>
          </a:p>
        </p:txBody>
      </p:sp>
      <p:pic>
        <p:nvPicPr>
          <p:cNvPr id="5" name="Image 0" descr="/mnt/user-data/uploads/1777256054448_ue_spread_diagnost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25880"/>
            <a:ext cx="530352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41732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UE spread confirmed: std=5.6, range=17 — no saturation ✓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Binary proxy: Pearson r=0.74 with 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UE-greedy proxy: r=0.34 — structurally misaligned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Congestion proxy: r=0.78 — marginal improvement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Proxy &amp; UE disagree on concentrated vs distributed solutions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Decision: binary proxy as gate, UE as LS guide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73152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72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Full gate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Binary proxy pre-filter + UE-guided LS in the main ALNS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81328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81328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72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Adaptive LS 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93852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Stop LS early when improvement potential is low — more iterations/budget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45536"/>
            <a:ext cx="73152" cy="1508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36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Richer queuing 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602736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Bulk arrivals, time-varying demand — UE framework extends naturally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145536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45536"/>
            <a:ext cx="73152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236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Benchmark study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602736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Systematic comparison across cities, varying T and budget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Multi-period EVCS location is hard and practically important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ALNS provides a scalable heuristic that outperforms greedy across all instances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User Equilibrium evaluation is fast, realistic, and scales to N=1000+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Gate mechanism (ongoing): binary proxy pre-filter + UE-guided local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93008"/>
            <a:ext cx="786384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43159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Office PowerPoint</Application>
  <PresentationFormat>On-screen Show (16:9)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Multi-Period EV Charging Station Location</dc:title>
  <dc:subject>PptxGenJS Presentation</dc:subject>
  <dc:creator>EVCS Research</dc:creator>
  <cp:lastModifiedBy>Asal Homayouni</cp:lastModifiedBy>
  <cp:revision>1</cp:revision>
  <dcterms:created xsi:type="dcterms:W3CDTF">2026-04-30T16:03:17Z</dcterms:created>
  <dcterms:modified xsi:type="dcterms:W3CDTF">2026-04-30T16:06:01Z</dcterms:modified>
</cp:coreProperties>
</file>