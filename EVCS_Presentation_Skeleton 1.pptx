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485" y="-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al Homayouni" userId="8607d062d2dc3d62" providerId="LiveId" clId="{2EDDFB26-3D6A-427F-BA22-A067C164E2C0}"/>
    <pc:docChg chg="custSel modSld">
      <pc:chgData name="Asal Homayouni" userId="8607d062d2dc3d62" providerId="LiveId" clId="{2EDDFB26-3D6A-427F-BA22-A067C164E2C0}" dt="2026-04-30T18:33:43.911" v="110" actId="20577"/>
      <pc:docMkLst>
        <pc:docMk/>
      </pc:docMkLst>
      <pc:sldChg chg="addSp delSp modSp mod">
        <pc:chgData name="Asal Homayouni" userId="8607d062d2dc3d62" providerId="LiveId" clId="{2EDDFB26-3D6A-427F-BA22-A067C164E2C0}" dt="2026-04-30T18:33:43.911" v="110" actId="20577"/>
        <pc:sldMkLst>
          <pc:docMk/>
          <pc:sldMk cId="0" sldId="264"/>
        </pc:sldMkLst>
        <pc:spChg chg="mod">
          <ac:chgData name="Asal Homayouni" userId="8607d062d2dc3d62" providerId="LiveId" clId="{2EDDFB26-3D6A-427F-BA22-A067C164E2C0}" dt="2026-04-30T18:12:42.205" v="67" actId="20577"/>
          <ac:spMkLst>
            <pc:docMk/>
            <pc:sldMk cId="0" sldId="264"/>
            <ac:spMk id="8" creationId="{00000000-0000-0000-0000-000000000000}"/>
          </ac:spMkLst>
        </pc:spChg>
        <pc:spChg chg="mod">
          <ac:chgData name="Asal Homayouni" userId="8607d062d2dc3d62" providerId="LiveId" clId="{2EDDFB26-3D6A-427F-BA22-A067C164E2C0}" dt="2026-04-30T18:33:43.911" v="110" actId="20577"/>
          <ac:spMkLst>
            <pc:docMk/>
            <pc:sldMk cId="0" sldId="264"/>
            <ac:spMk id="11" creationId="{00000000-0000-0000-0000-000000000000}"/>
          </ac:spMkLst>
        </pc:spChg>
        <pc:spChg chg="mod">
          <ac:chgData name="Asal Homayouni" userId="8607d062d2dc3d62" providerId="LiveId" clId="{2EDDFB26-3D6A-427F-BA22-A067C164E2C0}" dt="2026-04-30T18:33:25.414" v="107" actId="20577"/>
          <ac:spMkLst>
            <pc:docMk/>
            <pc:sldMk cId="0" sldId="264"/>
            <ac:spMk id="14" creationId="{00000000-0000-0000-0000-000000000000}"/>
          </ac:spMkLst>
        </pc:spChg>
        <pc:spChg chg="mod">
          <ac:chgData name="Asal Homayouni" userId="8607d062d2dc3d62" providerId="LiveId" clId="{2EDDFB26-3D6A-427F-BA22-A067C164E2C0}" dt="2026-04-30T18:29:04.181" v="82" actId="20577"/>
          <ac:spMkLst>
            <pc:docMk/>
            <pc:sldMk cId="0" sldId="264"/>
            <ac:spMk id="17" creationId="{00000000-0000-0000-0000-000000000000}"/>
          </ac:spMkLst>
        </pc:spChg>
        <pc:picChg chg="del">
          <ac:chgData name="Asal Homayouni" userId="8607d062d2dc3d62" providerId="LiveId" clId="{2EDDFB26-3D6A-427F-BA22-A067C164E2C0}" dt="2026-04-30T18:11:11.148" v="56" actId="478"/>
          <ac:picMkLst>
            <pc:docMk/>
            <pc:sldMk cId="0" sldId="264"/>
            <ac:picMk id="5" creationId="{00000000-0000-0000-0000-000000000000}"/>
          </ac:picMkLst>
        </pc:picChg>
        <pc:picChg chg="add mod">
          <ac:chgData name="Asal Homayouni" userId="8607d062d2dc3d62" providerId="LiveId" clId="{2EDDFB26-3D6A-427F-BA22-A067C164E2C0}" dt="2026-04-30T18:11:29.885" v="60" actId="14100"/>
          <ac:picMkLst>
            <pc:docMk/>
            <pc:sldMk cId="0" sldId="264"/>
            <ac:picMk id="19" creationId="{8412443A-6573-821F-D5BB-9AFBE5E08D42}"/>
          </ac:picMkLst>
        </pc:picChg>
      </pc:sldChg>
      <pc:sldChg chg="addSp delSp modSp mod">
        <pc:chgData name="Asal Homayouni" userId="8607d062d2dc3d62" providerId="LiveId" clId="{2EDDFB26-3D6A-427F-BA22-A067C164E2C0}" dt="2026-04-30T18:05:38.240" v="53" actId="20577"/>
        <pc:sldMkLst>
          <pc:docMk/>
          <pc:sldMk cId="0" sldId="265"/>
        </pc:sldMkLst>
        <pc:spChg chg="mod">
          <ac:chgData name="Asal Homayouni" userId="8607d062d2dc3d62" providerId="LiveId" clId="{2EDDFB26-3D6A-427F-BA22-A067C164E2C0}" dt="2026-04-30T18:05:38.240" v="53" actId="20577"/>
          <ac:spMkLst>
            <pc:docMk/>
            <pc:sldMk cId="0" sldId="265"/>
            <ac:spMk id="6" creationId="{00000000-0000-0000-0000-000000000000}"/>
          </ac:spMkLst>
        </pc:spChg>
        <pc:picChg chg="del">
          <ac:chgData name="Asal Homayouni" userId="8607d062d2dc3d62" providerId="LiveId" clId="{2EDDFB26-3D6A-427F-BA22-A067C164E2C0}" dt="2026-04-30T16:59:59.766" v="2" actId="478"/>
          <ac:picMkLst>
            <pc:docMk/>
            <pc:sldMk cId="0" sldId="265"/>
            <ac:picMk id="5" creationId="{00000000-0000-0000-0000-000000000000}"/>
          </ac:picMkLst>
        </pc:picChg>
        <pc:picChg chg="add mod">
          <ac:chgData name="Asal Homayouni" userId="8607d062d2dc3d62" providerId="LiveId" clId="{2EDDFB26-3D6A-427F-BA22-A067C164E2C0}" dt="2026-04-30T17:00:24.244" v="9" actId="14100"/>
          <ac:picMkLst>
            <pc:docMk/>
            <pc:sldMk cId="0" sldId="265"/>
            <ac:picMk id="8" creationId="{33D588DA-E4A9-2CC9-4CFB-CFC74A0C59A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6829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~1 min. Introduce problem: optimizing EV charger placement over multiple years using a heuristic.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this matters. ~2 min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Formal problem definition. ~3.5 min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is a full EV session at this conference — the gap is real. ~5 min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ALNS framework. Key insight: UE is fast enough to call at every step. ~7 min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Instance generation. Monza is primary benchmark. ~8.5 min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evaluation journey. We didn't start with UE. Proxy was too simple, GRB too slow, UE is the sweet spot. ~10 min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UE details. Key selling point: congestion awareness + speed. ~11.5 min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convergence curves. ALNS clearly improves over greedy on both instances. Gap to LP bound expected — that bound is loose for large instances. ~13 min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Best solution for Palermo 1025. Visually sensible — chargers where demand is densest. ~14 min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Gate work — present as ongoing. Being transparent that this is not fully integrated yet. ~17 min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diagnostic plot explaining why proxy-UE correlation peaks at r=0.74. ~18 min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concrete next steps. Gate and adaptive LS are near-term. ~19 min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key takeaways. 5 min for questions. Be ready: why UE over GRB, what the gate achieves, stochastic demand extensions.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Multi-Period Electric Vehicle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Station Location &amp; Sizing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CADCFC"/>
                </a:solidFill>
              </a:rPr>
              <a:t>A Heuristic Approach with Adaptive Large Neighbourhood Search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401568"/>
            <a:ext cx="32004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61188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899AA"/>
                </a:solidFill>
              </a:rPr>
              <a:t>[Asal Homayouni]  |  Supervisor: [Dr Tommaso Schettini]  |  May 12, 2025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4041648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9AA"/>
                </a:solidFill>
              </a:rPr>
              <a:t>TV11  ·  3rd Speaker  ·  20 minutes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554480" cy="274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MOTIVATION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Adoption Depends on Where You Put the Chargers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2468880" cy="1325880"/>
          </a:xfrm>
          <a:prstGeom prst="roundRect">
            <a:avLst>
              <a:gd name="adj" fmla="val 8276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81912"/>
            <a:ext cx="2468880" cy="72923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↑35%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2304288"/>
            <a:ext cx="2468880" cy="4773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EV sales growth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last year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1508760"/>
            <a:ext cx="2468880" cy="1325880"/>
          </a:xfrm>
          <a:prstGeom prst="roundRect">
            <a:avLst>
              <a:gd name="adj" fmla="val 827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581912"/>
            <a:ext cx="2468880" cy="72923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#1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337560" y="2304288"/>
            <a:ext cx="2468880" cy="4773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Barrier to adoption: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range anxiety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508760"/>
            <a:ext cx="2468880" cy="1325880"/>
          </a:xfrm>
          <a:prstGeom prst="roundRect">
            <a:avLst>
              <a:gd name="adj" fmla="val 8276"/>
            </a:avLst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581912"/>
            <a:ext cx="2468880" cy="72923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T=6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217920" y="2304288"/>
            <a:ext cx="2468880" cy="4773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Multi-period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installation horizon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Poor placement → fewer users → slower decarbonisation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611880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Location decisions are irreversible — getting them right matters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Budget is spread across multiple periods (years)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User behaviour and congestion must be modelled realistically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554480" cy="274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Multi-Period EVCS Location &amp; Sizing Problem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44752"/>
            <a:ext cx="38404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D9"/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44752"/>
            <a:ext cx="3840480" cy="40233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447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Decision Variables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938528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Which candidate sites to open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How many chargers per site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When to install (which period)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Budget limit per period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1444752"/>
            <a:ext cx="38404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CC71"/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444752"/>
            <a:ext cx="3840480" cy="402336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4447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Objective &amp; Constraints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1938528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Maximise demand served by open stations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Budget constraint per time period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Max chargers per site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Cumulative installation (no removals)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554480" cy="274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LITERATURE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Lots of Work on EV Location — But a Clear Gap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C71"/>
                </a:solidFill>
              </a:rPr>
              <a:t>What exists: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Many exact methods (MIP, Benders)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Single-period formulations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Simple coverage objectives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Small instances (N &lt; 200)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0" y="14630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</a:rPr>
              <a:t>What is missing: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1874520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Specialized heuristics for large instances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Multi-period with realistic user behaviour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Congestion-aware demand modelling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Scalability to N = 1000+ nodes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4041648"/>
            <a:ext cx="822960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04164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Our contribution: a tailored ALNS heuristic for multi-period EVCS with user equilibrium evaluation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554480" cy="274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ALGORITHM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Large Neighbourhood Search (ALNS)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1554480" cy="960120"/>
          </a:xfrm>
          <a:prstGeom prst="roundRect">
            <a:avLst>
              <a:gd name="adj" fmla="val 9524"/>
            </a:avLst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6304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Greedy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Initial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20240" y="1938528"/>
            <a:ext cx="457200" cy="0"/>
          </a:xfrm>
          <a:prstGeom prst="line">
            <a:avLst/>
          </a:prstGeom>
          <a:noFill/>
          <a:ln w="25400">
            <a:solidFill>
              <a:srgbClr val="8899A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0" y="1463040"/>
            <a:ext cx="1554480" cy="960120"/>
          </a:xfrm>
          <a:prstGeom prst="roundRect">
            <a:avLst>
              <a:gd name="adj" fmla="val 9524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146304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Destroy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(remove)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66160" y="1938528"/>
            <a:ext cx="457200" cy="0"/>
          </a:xfrm>
          <a:prstGeom prst="line">
            <a:avLst/>
          </a:prstGeom>
          <a:noFill/>
          <a:ln w="25400">
            <a:solidFill>
              <a:srgbClr val="8899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1463040"/>
            <a:ext cx="1554480" cy="960120"/>
          </a:xfrm>
          <a:prstGeom prst="roundRect">
            <a:avLst>
              <a:gd name="adj" fmla="val 9524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146304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Reconstruct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(add)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212080" y="1938528"/>
            <a:ext cx="457200" cy="0"/>
          </a:xfrm>
          <a:prstGeom prst="line">
            <a:avLst/>
          </a:prstGeom>
          <a:noFill/>
          <a:ln w="25400">
            <a:solidFill>
              <a:srgbClr val="8899A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0" y="1463040"/>
            <a:ext cx="1554480" cy="96012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0" y="146304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Local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Search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0" y="1938528"/>
            <a:ext cx="457200" cy="0"/>
          </a:xfrm>
          <a:prstGeom prst="line">
            <a:avLst/>
          </a:prstGeom>
          <a:noFill/>
          <a:ln w="25400">
            <a:solidFill>
              <a:srgbClr val="8899A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49440" y="1463040"/>
            <a:ext cx="1554480" cy="960120"/>
          </a:xfrm>
          <a:prstGeom prst="roundRect">
            <a:avLst>
              <a:gd name="adj" fmla="val 9524"/>
            </a:avLst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146304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Full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Eval (UE)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28800" y="2542032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99AA"/>
                </a:solidFill>
              </a:rPr>
              <a:t>↺  Iterate until time budget exhausted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127248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D9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127248"/>
            <a:ext cx="73152" cy="16642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21868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Destroy Operators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6928" y="3584448"/>
            <a:ext cx="246888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Site swap · Local remove · Area destroy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Adaptive weight update (roulette wheel)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10128" y="3127248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D9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10128" y="3127248"/>
            <a:ext cx="73152" cy="16642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11296" y="321868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Reconstruction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511296" y="3584448"/>
            <a:ext cx="246888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Greedy binary assignment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Proxy score ranks candidates fast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54496" y="3127248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D9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54496" y="3127248"/>
            <a:ext cx="73152" cy="16642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55664" y="321868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Evaluation (UE)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55664" y="3584448"/>
            <a:ext cx="246888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User equilibrium + Erlang-C queuing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~0.024s per solution — fast enough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554480" cy="274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INSTANCES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Italian Cities — Synthetically Generated Instances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5303520" cy="2468880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Instance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 (nodes)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Vicenza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125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Small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Verona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250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Small-Med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Monza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400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4A90D9"/>
                          </a:solidFill>
                        </a:rPr>
                        <a:t>Primary ★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Palermo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1025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Large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20624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9AA"/>
                </a:solidFill>
              </a:rPr>
              <a:t>★  Main benchmark — medium size, non-trivial, exact methods applicable for comparison</a:t>
            </a:r>
            <a:endParaRPr lang="en-US" sz="1000" dirty="0"/>
          </a:p>
        </p:txBody>
      </p:sp>
      <p:sp>
        <p:nvSpPr>
          <p:cNvPr id="5" name="Text 4"/>
          <p:cNvSpPr/>
          <p:nvPr/>
        </p:nvSpPr>
        <p:spPr>
          <a:xfrm>
            <a:off x="5943600" y="1463040"/>
            <a:ext cx="29260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Demand nodes: population-weighted grid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Candidate sites: existing fuel stations + parking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D = 10 km service radius (walkable distance)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Budget: 1 charger per 15 node per period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T = 6 periods, cumulative installation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554480" cy="274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EVALUATION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Evaluate Solutions: A Journey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536192"/>
            <a:ext cx="502920" cy="502920"/>
          </a:xfrm>
          <a:prstGeom prst="ellipse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5361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1444752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Binary Proxy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792224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</a:rPr>
              <a:t>Count demand within range of open stations. Instant but ignores congestion.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452360" y="1536192"/>
            <a:ext cx="1371600" cy="411480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52360" y="153619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~0 ms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" y="2048256"/>
            <a:ext cx="0" cy="493776"/>
          </a:xfrm>
          <a:prstGeom prst="line">
            <a:avLst/>
          </a:prstGeom>
          <a:noFill/>
          <a:ln w="12700">
            <a:solidFill>
              <a:srgbClr val="8899AA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65760" y="2633472"/>
            <a:ext cx="502920" cy="50292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6334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51560" y="2542032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Gurobi (GRB)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2889504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</a:rPr>
              <a:t>LP flow model. Accurate but slow — requires licence, 2–5s per call.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52360" y="2633472"/>
            <a:ext cx="1371600" cy="4114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52360" y="263347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~2–5 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" y="3145536"/>
            <a:ext cx="0" cy="493776"/>
          </a:xfrm>
          <a:prstGeom prst="line">
            <a:avLst/>
          </a:prstGeom>
          <a:noFill/>
          <a:ln w="12700">
            <a:solidFill>
              <a:srgbClr val="8899AA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365760" y="3730752"/>
            <a:ext cx="502920" cy="50292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730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51560" y="3639312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User Equilibrium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3986784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</a:rPr>
              <a:t>Logit routing + Erlang-C queuing. Fast AND realistic. Current approach.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452360" y="3730752"/>
            <a:ext cx="1371600" cy="41148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52360" y="373075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~0.024 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899AA"/>
                </a:solidFill>
              </a:rPr>
              <a:t>UE: users choose stations to minimise travel cost + expected waiting time (Erlang-C queue)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554480" cy="274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EVALUATION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Equilibrium: How Drivers Choose Chargers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Each driver minimises: travel cost + expected wait time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Logit model: probability of choosing station j ∝ e^(−cost)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Erlang-C: realistic queue model for each station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No-option: drivers bail if nearest station &gt; 2 km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Equilibrium: no driver improves by switching stations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Key result: concentrating chargers is penalised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(congestion raises waiting cost)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03520" y="1444752"/>
            <a:ext cx="3474720" cy="3017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0" y="1444752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</a:rPr>
              <a:t>Tuned Parameters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40680" y="193852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noopt range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040880" y="193852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</a:rPr>
              <a:t>10 km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40680" y="238658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α_wait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40880" y="238658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</a:rPr>
              <a:t>10.0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40680" y="28346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penalty_dist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040880" y="28346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</a:rPr>
              <a:t>5.0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40680" y="328269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μ (service rate)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040880" y="328269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</a:rPr>
              <a:t>4.0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40680" y="373075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cap / server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040880" y="373075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</a:rPr>
              <a:t>4.0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645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4A90D9"/>
                </a:solidFill>
              </a:rPr>
              <a:t>UE runs at ~0.024 s/solution — fast enough to replace proxy as LS guide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554480" cy="274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ALNS Converges and Beats the Greedy Baseline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892040" y="1444752"/>
            <a:ext cx="438912" cy="43891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892040" y="14447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40680" y="1371600"/>
            <a:ext cx="3383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</a:rPr>
              <a:t>Monza N=400: 11 improvements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</a:rPr>
              <a:t>in 20s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892040" y="2340864"/>
            <a:ext cx="438912" cy="43891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92040" y="234086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40680" y="2267712"/>
            <a:ext cx="3383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</a:rPr>
              <a:t>Palermo N=1025: 71 improvements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</a:rPr>
              <a:t>in 350s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892040" y="3236976"/>
            <a:ext cx="438912" cy="43891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2040" y="323697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↑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40680" y="3163824"/>
            <a:ext cx="3383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</a:rPr>
              <a:t>UE score: 555.2 → 751.5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</a:rPr>
              <a:t>(+35.5% vs greedy)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892040" y="4133088"/>
            <a:ext cx="438912" cy="43891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92040" y="41330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~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440680" y="4059936"/>
            <a:ext cx="3383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</a:rPr>
              <a:t>LP upper bound 816.02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</a:rPr>
              <a:t>(gap known, expected)</a:t>
            </a:r>
            <a:endParaRPr lang="en-US" sz="12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412443A-6573-821F-D5BB-9AFBE5E08D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98448"/>
            <a:ext cx="4782312" cy="37072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554480" cy="274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48296" y="112561"/>
            <a:ext cx="5698901" cy="5458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Look Physically Reasonable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623560" y="979438"/>
            <a:ext cx="3246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Stations near dense demand clusters ✓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High-charger stations (red) at centre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Low-charger stations (blue) extend reach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Coverage circles (r=10 km) overlap demand ✓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73.3% served — budget-constrained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(204 chargers across 47 stations / 1025 demand nodes)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Solutions vary across iterations — not stuck ✓</a:t>
            </a:r>
            <a:endParaRPr lang="en-US" sz="13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D588DA-E4A9-2CC9-4CFB-CFC74A0C59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279" y="605307"/>
            <a:ext cx="5126033" cy="453819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554480" cy="274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ONGOING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Speeding Up ALNS: A Learned Evaluation Gate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965960" cy="804672"/>
          </a:xfrm>
          <a:prstGeom prst="roundRect">
            <a:avLst>
              <a:gd name="adj" fmla="val 11364"/>
            </a:avLst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1965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Candidate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solution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23160" y="1865376"/>
            <a:ext cx="228600" cy="0"/>
          </a:xfrm>
          <a:prstGeom prst="line">
            <a:avLst/>
          </a:prstGeom>
          <a:noFill/>
          <a:ln w="25400">
            <a:solidFill>
              <a:srgbClr val="8899A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51760" y="1463040"/>
            <a:ext cx="1965960" cy="804672"/>
          </a:xfrm>
          <a:prstGeom prst="roundRect">
            <a:avLst>
              <a:gd name="adj" fmla="val 11364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1463040"/>
            <a:ext cx="1965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Binary proxy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gate r=0.74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1865376"/>
            <a:ext cx="228600" cy="0"/>
          </a:xfrm>
          <a:prstGeom prst="line">
            <a:avLst/>
          </a:prstGeom>
          <a:noFill/>
          <a:ln w="25400">
            <a:solidFill>
              <a:srgbClr val="8899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463040"/>
            <a:ext cx="1965960" cy="804672"/>
          </a:xfrm>
          <a:prstGeom prst="roundRect">
            <a:avLst>
              <a:gd name="adj" fmla="val 1136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463040"/>
            <a:ext cx="1965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1–2 step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local search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12280" y="1865376"/>
            <a:ext cx="228600" cy="0"/>
          </a:xfrm>
          <a:prstGeom prst="line">
            <a:avLst/>
          </a:prstGeom>
          <a:noFill/>
          <a:ln w="25400">
            <a:solidFill>
              <a:srgbClr val="8899A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0" y="1463040"/>
            <a:ext cx="1965960" cy="804672"/>
          </a:xfrm>
          <a:prstGeom prst="roundRect">
            <a:avLst>
              <a:gd name="adj" fmla="val 11364"/>
            </a:avLst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1463040"/>
            <a:ext cx="1965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UE full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eval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645920" y="2331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74C3C"/>
                </a:solidFill>
              </a:rPr>
              <a:t>↓ skip ~30% of candidates before expensive steps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2852928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Observation: LS stops at step 1–2 for 79% of trajectories — expensive for little gain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Binary proxy correlates with UE at r=0.74 — useful coarse filter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Gate filters bottom ~30% before LS starts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Structural limit: proxy (coverage) and UE (congestion) measure different things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</a:rPr>
              <a:t>Next step: use UE directly as the LS step guide — 0.1s/step, feasible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74C3C"/>
                </a:solidFill>
              </a:rPr>
              <a:t>⚠  Preliminary — full pipeline integration in progress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554480" cy="274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ONGOING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Proxy–UE Correlation Analysis</a:t>
            </a:r>
            <a:endParaRPr lang="en-US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554480" cy="274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FUTURE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Next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81328"/>
            <a:ext cx="40690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D9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81328"/>
            <a:ext cx="73152" cy="15087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572768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Full gate integration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1938528"/>
            <a:ext cx="3794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Binary proxy pre-filter + UE-guided LS in the main ALNS loop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481328"/>
            <a:ext cx="40690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481328"/>
            <a:ext cx="73152" cy="1508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56048" y="1572768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Adaptive LS depth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56048" y="1938528"/>
            <a:ext cx="3794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Stop LS early when improvement potential is low — more iterations/budget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145536"/>
            <a:ext cx="40690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CC71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145536"/>
            <a:ext cx="73152" cy="150876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3236976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Richer queuing models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" y="3602736"/>
            <a:ext cx="3794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Bulk arrivals, time-varying demand — UE framework extends naturally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3145536"/>
            <a:ext cx="40690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4C3C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3145536"/>
            <a:ext cx="73152" cy="15087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56048" y="3236976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Benchmark study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56048" y="3602736"/>
            <a:ext cx="3794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Systematic comparison across cities, varying T and budget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261872"/>
            <a:ext cx="7863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Multi-period EVCS location is hard and practically important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ALNS provides a scalable heuristic that outperforms greedy across all instances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User Equilibrium evaluation is fast, realistic, and scales to N=1000+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</a:rPr>
              <a:t>Gate mechanism (ongoing): binary proxy pre-filter + UE-guided local search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493008"/>
            <a:ext cx="7863840" cy="0"/>
          </a:xfrm>
          <a:prstGeom prst="line">
            <a:avLst/>
          </a:prstGeom>
          <a:noFill/>
          <a:ln w="12700">
            <a:solidFill>
              <a:srgbClr val="4A90D9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40080" y="36576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Thank you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4315968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ADCFC"/>
                </a:solidFill>
              </a:rPr>
              <a:t>Questions welcome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1218</Words>
  <Application>Microsoft Office PowerPoint</Application>
  <PresentationFormat>On-screen Show (16:9)</PresentationFormat>
  <Paragraphs>218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Multi-Period EV Charging Station Location</dc:title>
  <dc:subject>PptxGenJS Presentation</dc:subject>
  <dc:creator>EVCS Research</dc:creator>
  <cp:lastModifiedBy>Asal Homayouni</cp:lastModifiedBy>
  <cp:revision>2</cp:revision>
  <dcterms:created xsi:type="dcterms:W3CDTF">2026-04-30T16:03:17Z</dcterms:created>
  <dcterms:modified xsi:type="dcterms:W3CDTF">2026-04-30T18:37:57Z</dcterms:modified>
</cp:coreProperties>
</file>